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各位老师好，我的汇报题目是基于 Verilog 的 D 触发器设计与验证。项目完成了 RTL 建模、功能仿真、综合、布局布线和结果分析。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汇报分为五部分：任务、设计、验证、实现和总结。核心问题集中在复位、上升沿采样以及互补输出三个行为上。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设计目标是实现一个最基础的边沿触发 D 触发器。输入包括时钟、低有效异步复位和数据 D，输出为 Q 与 Q_NOT。测试时钟周期定为 20 ns，复位在 100 ns 后释放。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触发器的核心是：复位有效时输出清零；复位无效时，在每个时钟上升沿把 D 写入 Q。Q_NOT 使用组合逻辑生成，因此与 Q 保持反相。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RTL 使用一个异步复位的时序 always 块。复位有效时 Q 清零，否则在上升沿把 D 赋给 Q。Q_NOT 用连续赋值生成。代码不使用 initial 和延时，因此可直接综合。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测试平台使用 20 ns 周期时钟，复位保持 100 ns，之后 D 每 13.7 ns 随机变化。由于 13.7 ns 与 20 ns 不成整数倍，数据变化会分布在时钟边沿前后，有利于检查采样时刻。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时序图说明三个现象：复位优先；复位释放后 Q 在下一个上升沿更新；Q_NOT 始终和 Q 反相。图中数据是示意随机序列，用于说明采样关系。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功能仿真结果表明用户 RTL 和测试平台编译均为 0 错误、0 警告，ModelSim 完成 run -all。仿真验证了异步复位、上升沿采样、非边沿保持和互补输出。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Quartus 流程从 RTL 输入开始，经综合、布局布线和装配生成 SOF。综合与 Fitter 均成功。需要强调，当前没有绑定引脚，也没有用户 SDC，因此完成的是软件实现，不是板级实测。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综合结果与设计规模一致：只用到一个逻辑单元和一个寄存器，五个引脚。Q_NOT 没有额外寄存器，说明综合器正确识别了互补输出。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TimeQuest 显示最小脉宽负 Slack。原因不是代码行为错误，而是工程没有用户 SDC，工具自动按 1 GHz 约束。测试平台时钟为 20 ns，所以正式答辩时应说明需要补 create_clock 约束后复测。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总结：项目已经完成功能设计、仿真和 FPGA 软件实现，结果与预期一致。后续重点是补充 SDC、绑定引脚、做板级下载验证，并继续增加定向测试。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问答部分重点回答异步复位、非阻塞赋值、Q_NOT 实现方式以及时序约束问题。最后请老师批评指正。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0"/>
            <a:ext cx="0" cy="6858000"/>
          </a:xfrm>
          <a:prstGeom prst="line">
            <a:avLst/>
          </a:prstGeom>
          <a:ln w="11430">
            <a:solidFill>
              <a:srgbClr val="254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11430">
            <a:solidFill>
              <a:srgbClr val="254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155680" y="0"/>
            <a:ext cx="0" cy="6858000"/>
          </a:xfrm>
          <a:prstGeom prst="line">
            <a:avLst/>
          </a:prstGeom>
          <a:ln w="11430">
            <a:solidFill>
              <a:srgbClr val="254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11430">
            <a:solidFill>
              <a:srgbClr val="254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1430">
            <a:solidFill>
              <a:srgbClr val="254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5989320"/>
            <a:ext cx="12191695" cy="0"/>
          </a:xfrm>
          <a:prstGeom prst="line">
            <a:avLst/>
          </a:prstGeom>
          <a:ln w="11430">
            <a:solidFill>
              <a:srgbClr val="2540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713232"/>
            <a:ext cx="2286000" cy="310896"/>
          </a:xfrm>
          <a:prstGeom prst="roundRect">
            <a:avLst/>
          </a:prstGeom>
          <a:solidFill>
            <a:srgbClr val="19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97CBFF"/>
                </a:solidFill>
                <a:latin typeface="Microsoft YaHei"/>
              </a:rPr>
              <a:t>FPGA 基础实验 · 答辩汇报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53312"/>
            <a:ext cx="836676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基于 Verilog 的
D 触发器设计与验证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99232"/>
            <a:ext cx="822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8CDE3"/>
                </a:solidFill>
                <a:latin typeface="Microsoft YaHei"/>
              </a:rPr>
              <a:t>从 RTL 建模、ModelSim 功能仿真，到 Quartus 综合与资源评估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639312"/>
            <a:ext cx="91440" cy="749808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657600"/>
            <a:ext cx="69494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设计工具  Quartus II 13.0.1  |  ModelSim SE-64 2020.4
目标器件  Altera Cyclone IV E  EP4CE6E22C6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199632"/>
            <a:ext cx="1691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0B5CD"/>
                </a:solidFill>
                <a:latin typeface="Microsoft YaHei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汇报内容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OVERVIEW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6FEB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35607"/>
            <a:ext cx="39776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33C"/>
                </a:solidFill>
                <a:latin typeface="Microsoft YaHei"/>
              </a:rPr>
              <a:t>任务与设计指标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55648"/>
            <a:ext cx="397763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777"/>
                </a:solidFill>
                <a:latin typeface="Microsoft YaHei"/>
              </a:rPr>
              <a:t>明确功能定义、输入输出和验证标准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325880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325880"/>
            <a:ext cx="73152" cy="841248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490472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99D99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35607"/>
            <a:ext cx="39776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33C"/>
                </a:solidFill>
                <a:latin typeface="Microsoft YaHei"/>
              </a:rPr>
              <a:t>原理与 RTL 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55648"/>
            <a:ext cx="397763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777"/>
                </a:solidFill>
                <a:latin typeface="Microsoft YaHei"/>
              </a:rPr>
              <a:t>从时序逻辑出发完成可综合 Verilog 描述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377439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377439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542032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6FEB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487168"/>
            <a:ext cx="39776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33C"/>
                </a:solidFill>
                <a:latin typeface="Microsoft YaHei"/>
              </a:rPr>
              <a:t>仿真与功能验证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807207"/>
            <a:ext cx="397763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777"/>
                </a:solidFill>
                <a:latin typeface="Microsoft YaHei"/>
              </a:rPr>
              <a:t>测试平台、时序图和 ModelSim 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2377439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2377439"/>
            <a:ext cx="73152" cy="841248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542032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99D99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487168"/>
            <a:ext cx="39776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33C"/>
                </a:solidFill>
                <a:latin typeface="Microsoft YaHei"/>
              </a:rPr>
              <a:t>综合与实现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807207"/>
            <a:ext cx="397763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777"/>
                </a:solidFill>
                <a:latin typeface="Microsoft YaHei"/>
              </a:rPr>
              <a:t>Quartus 流程、资源占用和时序分析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54680" y="3429000"/>
            <a:ext cx="51663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54680" y="3429000"/>
            <a:ext cx="73152" cy="8412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3593592"/>
            <a:ext cx="5029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F6FEB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9352" y="3538728"/>
            <a:ext cx="397763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33C"/>
                </a:solidFill>
                <a:latin typeface="Microsoft YaHei"/>
              </a:rPr>
              <a:t>总结与改进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9352" y="3858768"/>
            <a:ext cx="3977639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777"/>
                </a:solidFill>
                <a:latin typeface="Microsoft YaHei"/>
              </a:rPr>
              <a:t>结论、边界和后续工作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核心问题：D 触发器在异步复位、时钟上升沿和输出反相条件下是否满足设计预期？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设计任务与验收指标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TASK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功能目标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52728"/>
            <a:ext cx="6629400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614476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33C"/>
                </a:solidFill>
                <a:latin typeface="Microsoft YaHei"/>
              </a:rPr>
              <a:t>构建一个带异步低电平复位、上升沿触发的 D 触发器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93976"/>
            <a:ext cx="571500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20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600" b="0">
                <a:solidFill>
                  <a:srgbClr val="212A36"/>
                </a:solidFill>
                <a:latin typeface="Microsoft YaHei"/>
              </a:rPr>
              <a:t>复位有效时：Q 立即清零，不受时钟边沿限制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20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600" b="0">
                <a:solidFill>
                  <a:srgbClr val="212A36"/>
                </a:solidFill>
                <a:latin typeface="Microsoft YaHei"/>
              </a:rPr>
              <a:t>复位释放后：每个 sys_clk 上升沿将 D 采样到 Q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20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600" b="0">
                <a:solidFill>
                  <a:srgbClr val="212A36"/>
                </a:solidFill>
                <a:latin typeface="Microsoft YaHei"/>
              </a:rPr>
              <a:t>互补输出：Q_NOT 始终等于 Q 的逻辑反相值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20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600" b="0">
                <a:solidFill>
                  <a:srgbClr val="212A36"/>
                </a:solidFill>
                <a:latin typeface="Microsoft YaHei"/>
              </a:rPr>
              <a:t>RTL 代码必须可综合，并可完成 Quartus 编译与资源分析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53712"/>
            <a:ext cx="1874519" cy="310896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F6FEB"/>
                </a:solidFill>
                <a:latin typeface="Microsoft YaHei"/>
              </a:rPr>
              <a:t>clk period = 20 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4553712"/>
            <a:ext cx="2057400" cy="310896"/>
          </a:xfrm>
          <a:prstGeom prst="roundRect">
            <a:avLst/>
          </a:prstGeom>
          <a:solidFill>
            <a:srgbClr val="E1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99D99"/>
                </a:solidFill>
                <a:latin typeface="Microsoft YaHei"/>
              </a:rPr>
              <a:t>reset release = 100 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4553712"/>
            <a:ext cx="1691640" cy="310896"/>
          </a:xfrm>
          <a:prstGeom prst="round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E8961F"/>
                </a:solidFill>
                <a:latin typeface="Microsoft YaHei"/>
              </a:rPr>
              <a:t>target = 0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1252728"/>
            <a:ext cx="395020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33C"/>
                </a:solidFill>
                <a:latin typeface="Microsoft YaHei"/>
              </a:rPr>
              <a:t>输入 / 输出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1664208"/>
            <a:ext cx="1061883" cy="43891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1737360"/>
            <a:ext cx="8424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信号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33115" y="1664208"/>
            <a:ext cx="764556" cy="43891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843" y="1737360"/>
            <a:ext cx="5451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7672" y="1664208"/>
            <a:ext cx="637130" cy="43891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7400" y="1737360"/>
            <a:ext cx="41767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位宽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4802" y="1664208"/>
            <a:ext cx="1486637" cy="43891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4530" y="1737360"/>
            <a:ext cx="126718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含义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71231" y="2103120"/>
            <a:ext cx="1061883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2176272"/>
            <a:ext cx="8424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sys_clk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33115" y="2103120"/>
            <a:ext cx="764556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843" y="2176272"/>
            <a:ext cx="5451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input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97672" y="2103120"/>
            <a:ext cx="63713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7400" y="2176272"/>
            <a:ext cx="41767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34802" y="2103120"/>
            <a:ext cx="1486637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4530" y="2176272"/>
            <a:ext cx="126718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同步时钟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71231" y="2542032"/>
            <a:ext cx="1061883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59" y="2615184"/>
            <a:ext cx="8424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rst_n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33115" y="2542032"/>
            <a:ext cx="764556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843" y="2615184"/>
            <a:ext cx="5451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input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97672" y="2542032"/>
            <a:ext cx="637130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7400" y="2615184"/>
            <a:ext cx="41767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34802" y="2542032"/>
            <a:ext cx="1486637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4530" y="2615184"/>
            <a:ext cx="126718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异步复位，低有效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71231" y="2980944"/>
            <a:ext cx="1061883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59" y="3054096"/>
            <a:ext cx="8424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33115" y="2980944"/>
            <a:ext cx="764556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843" y="3054096"/>
            <a:ext cx="5451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input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97672" y="2980944"/>
            <a:ext cx="63713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7400" y="3054096"/>
            <a:ext cx="41767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34802" y="2980944"/>
            <a:ext cx="1486637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4530" y="3054096"/>
            <a:ext cx="126718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待采样数据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71231" y="3419856"/>
            <a:ext cx="1061883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59" y="3493008"/>
            <a:ext cx="8424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33115" y="3419856"/>
            <a:ext cx="764556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843" y="3493008"/>
            <a:ext cx="5451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output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97672" y="3419856"/>
            <a:ext cx="637130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7400" y="3493008"/>
            <a:ext cx="41767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34802" y="3419856"/>
            <a:ext cx="1486637" cy="43891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4530" y="3493008"/>
            <a:ext cx="126718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寄存输出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71231" y="3858768"/>
            <a:ext cx="1061883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59" y="3931920"/>
            <a:ext cx="842427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Q_NOT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3115" y="3858768"/>
            <a:ext cx="764556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843" y="3931920"/>
            <a:ext cx="5451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output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97672" y="3858768"/>
            <a:ext cx="63713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7400" y="3931920"/>
            <a:ext cx="41767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34802" y="3858768"/>
            <a:ext cx="1486637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44530" y="3931920"/>
            <a:ext cx="1267181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Q 的反相信号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验收标准：复位行为正确；上升沿采样正确；Q_NOT 与 Q 互补；仿真与编译无用户文件错误。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D 触发器原理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PRINCIPLE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边沿触发的 1 位存储单元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61872"/>
            <a:ext cx="5074920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44805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逻辑符号与数据通路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56231" y="2176272"/>
            <a:ext cx="2176272" cy="1508760"/>
          </a:xfrm>
          <a:prstGeom prst="roundRect">
            <a:avLst/>
          </a:prstGeom>
          <a:solidFill>
            <a:srgbClr val="E6F0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9696" y="2487168"/>
            <a:ext cx="16002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F6FEB"/>
                </a:solidFill>
                <a:latin typeface="Microsoft YaHei"/>
              </a:rPr>
              <a:t>D_FF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944368"/>
            <a:ext cx="1783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posedge · async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93392"/>
            <a:ext cx="320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12A36"/>
                </a:solidFill>
                <a:latin typeface="Microsoft YaHei"/>
              </a:rPr>
              <a:t>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34440" y="2112264"/>
            <a:ext cx="621791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2770632"/>
            <a:ext cx="7315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A36"/>
                </a:solidFill>
                <a:latin typeface="Microsoft YaHei"/>
              </a:rPr>
              <a:t>sys_clk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72768" y="2880360"/>
            <a:ext cx="283463" cy="0"/>
          </a:xfrm>
          <a:prstGeom prst="line">
            <a:avLst/>
          </a:prstGeom>
          <a:ln w="2540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447288"/>
            <a:ext cx="594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A36"/>
                </a:solidFill>
                <a:latin typeface="Microsoft YaHei"/>
              </a:rPr>
              <a:t>rst_n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35608" y="3557016"/>
            <a:ext cx="420623" cy="0"/>
          </a:xfrm>
          <a:prstGeom prst="line">
            <a:avLst/>
          </a:prstGeom>
          <a:ln w="25400">
            <a:solidFill>
              <a:srgbClr val="CD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32504" y="2331720"/>
            <a:ext cx="749808" cy="0"/>
          </a:xfrm>
          <a:prstGeom prst="line">
            <a:avLst/>
          </a:prstGeom>
          <a:ln w="2540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32504" y="3401568"/>
            <a:ext cx="749808" cy="0"/>
          </a:xfrm>
          <a:prstGeom prst="line">
            <a:avLst/>
          </a:prstGeom>
          <a:ln w="2540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0600" y="2212848"/>
            <a:ext cx="2743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6915B"/>
                </a:solidFill>
                <a:latin typeface="Microsoft YaHei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3282696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99D99"/>
                </a:solidFill>
                <a:latin typeface="Microsoft YaHei"/>
              </a:rPr>
              <a:t>Q_NOT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42816"/>
            <a:ext cx="4480560" cy="1024128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40740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777"/>
                </a:solidFill>
                <a:latin typeface="Microsoft YaHei"/>
              </a:rPr>
              <a:t>特征方程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18304"/>
            <a:ext cx="4114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33C"/>
                </a:solidFill>
                <a:latin typeface="Consolas"/>
              </a:rPr>
              <a:t>Q(next) = D   （sys_clk 上升沿）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1261872"/>
            <a:ext cx="536752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行为表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691640"/>
            <a:ext cx="902948" cy="53035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1764792"/>
            <a:ext cx="683492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rst_n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4292" y="1691640"/>
            <a:ext cx="1203931" cy="53035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4020" y="1764792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sys_clk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8224" y="1691640"/>
            <a:ext cx="802621" cy="53035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7952" y="1764792"/>
            <a:ext cx="58316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0845" y="1691640"/>
            <a:ext cx="1203931" cy="53035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0573" y="1764792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Q(next)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94776" y="1691640"/>
            <a:ext cx="1254095" cy="530352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4504" y="1764792"/>
            <a:ext cx="1034639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Q_NOT(next)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2221992"/>
            <a:ext cx="90294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2295144"/>
            <a:ext cx="683492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4292" y="2221992"/>
            <a:ext cx="12039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94020" y="2295144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88224" y="2221992"/>
            <a:ext cx="80262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7952" y="2295144"/>
            <a:ext cx="58316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0845" y="2221992"/>
            <a:ext cx="12039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0573" y="2295144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94776" y="2221992"/>
            <a:ext cx="1254095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04504" y="2295144"/>
            <a:ext cx="1034639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81344" y="2752344"/>
            <a:ext cx="902948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2825496"/>
            <a:ext cx="683492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4292" y="2752344"/>
            <a:ext cx="1203931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94020" y="2825496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88224" y="2752344"/>
            <a:ext cx="802621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7952" y="2825496"/>
            <a:ext cx="58316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0845" y="2752344"/>
            <a:ext cx="1203931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00573" y="2825496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94776" y="2752344"/>
            <a:ext cx="1254095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04504" y="2825496"/>
            <a:ext cx="1034639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81344" y="3282696"/>
            <a:ext cx="902948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3355848"/>
            <a:ext cx="683492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4292" y="3282696"/>
            <a:ext cx="12039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94020" y="3355848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88224" y="3282696"/>
            <a:ext cx="80262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97952" y="3355848"/>
            <a:ext cx="58316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90845" y="3282696"/>
            <a:ext cx="1203931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00573" y="3355848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94776" y="3282696"/>
            <a:ext cx="1254095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04504" y="3355848"/>
            <a:ext cx="1034639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1344" y="3813048"/>
            <a:ext cx="902948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1072" y="3886200"/>
            <a:ext cx="683492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84292" y="3813048"/>
            <a:ext cx="1203931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94020" y="3886200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0 / 1 / 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88224" y="3813048"/>
            <a:ext cx="802621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97952" y="3886200"/>
            <a:ext cx="58316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90845" y="3813048"/>
            <a:ext cx="1203931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00573" y="3886200"/>
            <a:ext cx="984475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保持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94776" y="3813048"/>
            <a:ext cx="1254095" cy="530352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04504" y="3886200"/>
            <a:ext cx="1034639" cy="4023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保持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81344" y="4187952"/>
            <a:ext cx="5367528" cy="1536192"/>
          </a:xfrm>
          <a:prstGeom prst="roundRect">
            <a:avLst/>
          </a:prstGeom>
          <a:solidFill>
            <a:srgbClr val="E1F7F5"/>
          </a:solidFill>
          <a:ln w="10160">
            <a:solidFill>
              <a:srgbClr val="199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4416552"/>
            <a:ext cx="4892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9D99"/>
                </a:solidFill>
                <a:latin typeface="Microsoft YaHei"/>
              </a:rPr>
              <a:t>三个关键结论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19088" y="4754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875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250" b="0">
                <a:solidFill>
                  <a:srgbClr val="212A36"/>
                </a:solidFill>
                <a:latin typeface="Microsoft YaHei"/>
              </a:rPr>
              <a:t>复位优先级高于时钟边沿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875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250" b="0">
                <a:solidFill>
                  <a:srgbClr val="212A36"/>
                </a:solidFill>
                <a:latin typeface="Microsoft YaHei"/>
              </a:rPr>
              <a:t>Q 是寄存器输出，Q_NOT 是组合输出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875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250" b="0">
                <a:solidFill>
                  <a:srgbClr val="212A36"/>
                </a:solidFill>
                <a:latin typeface="Microsoft YaHei"/>
              </a:rPr>
              <a:t>D 只在上升沿被捕获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RTL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RTL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61872"/>
            <a:ext cx="6583680" cy="4800600"/>
          </a:xfrm>
          <a:prstGeom prst="roundRect">
            <a:avLst/>
          </a:prstGeom>
          <a:solidFill>
            <a:srgbClr val="111D2D"/>
          </a:solidFill>
          <a:ln w="10160">
            <a:solidFill>
              <a:srgbClr val="26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08175"/>
            <a:ext cx="6144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6F0FF"/>
                </a:solidFill>
                <a:latin typeface="Microsoft YaHei"/>
              </a:rPr>
              <a:t>RTL 核心代码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0784"/>
            <a:ext cx="6181344" cy="4233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6F0FF"/>
                </a:solidFill>
                <a:latin typeface="Consolas"/>
              </a:rPr>
              <a:t>module D_FF(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input  wire sys_clk,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input  wire rst_n,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input  wire 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26915B"/>
                </a:solidFill>
                <a:latin typeface="Consolas"/>
              </a:rPr>
              <a:t>  output reg  Q,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output wire Q_NOT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8961F"/>
                </a:solidFill>
                <a:latin typeface="Consolas"/>
              </a:rPr>
              <a:t>always @(posedge sys_clk or negedge rst_n)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if (rst_n == 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  Q &lt;=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else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  Q &lt;= D;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199D99"/>
                </a:solidFill>
                <a:latin typeface="Consolas"/>
              </a:rPr>
              <a:t>assign Q_NOT = ~Q;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6F0FF"/>
                </a:solidFill>
                <a:latin typeface="Consolas"/>
              </a:rPr>
              <a:t>endmodule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2088" y="1280160"/>
            <a:ext cx="39593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实现要点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2088" y="1728216"/>
            <a:ext cx="39593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1728216"/>
            <a:ext cx="73152" cy="91440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27264" y="1847088"/>
            <a:ext cx="3429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D4141"/>
                </a:solidFill>
                <a:latin typeface="Microsoft YaHei"/>
              </a:rPr>
              <a:t>异步复位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157984"/>
            <a:ext cx="354787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5B6777"/>
                </a:solidFill>
                <a:latin typeface="Microsoft YaHei"/>
              </a:rPr>
              <a:t>敏感列表包含 negedge rst_n，复位无需等待时钟。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2752344"/>
            <a:ext cx="39593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2088" y="2752344"/>
            <a:ext cx="73152" cy="914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2871215"/>
            <a:ext cx="3429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6FEB"/>
                </a:solidFill>
                <a:latin typeface="Microsoft YaHei"/>
              </a:rPr>
              <a:t>非阻塞赋值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3182111"/>
            <a:ext cx="354787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5B6777"/>
                </a:solidFill>
                <a:latin typeface="Microsoft YaHei"/>
              </a:rPr>
              <a:t>Q 使用 &lt;=，符合时序逻辑建模规范。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2088" y="3776472"/>
            <a:ext cx="39593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62088" y="3776472"/>
            <a:ext cx="73152" cy="91440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27264" y="3895344"/>
            <a:ext cx="3429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6915B"/>
                </a:solidFill>
                <a:latin typeface="Microsoft YaHei"/>
              </a:rPr>
              <a:t>可综合描述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4" y="4206240"/>
            <a:ext cx="354787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5B6777"/>
                </a:solidFill>
                <a:latin typeface="Microsoft YaHei"/>
              </a:rPr>
              <a:t>无 initial、延时语句，可直接进入 Quartus 编译。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4800600"/>
            <a:ext cx="395935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62088" y="4800600"/>
            <a:ext cx="73152" cy="914400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7264" y="4919472"/>
            <a:ext cx="3429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9D99"/>
                </a:solidFill>
                <a:latin typeface="Microsoft YaHei"/>
              </a:rPr>
              <a:t>组合反相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5230368"/>
            <a:ext cx="3547872" cy="3383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5B6777"/>
                </a:solidFill>
                <a:latin typeface="Microsoft YaHei"/>
              </a:rPr>
              <a:t>Q_NOT 使用 assign 连续赋值，实时反映 Q 的状态。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代码结构：1 个时序 always 块 + 1 条连续赋值，设计规模最小且行为明确。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测试平台设计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VERIFICATION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用可控时钟与随机数据覆盖多种采样时刻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61872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61872"/>
            <a:ext cx="64008" cy="1234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426463"/>
            <a:ext cx="295351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F6FEB"/>
                </a:solidFill>
                <a:latin typeface="Microsoft YaHei"/>
              </a:rPr>
              <a:t>20 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29967"/>
            <a:ext cx="295351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时钟周期：always #10 翻转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261872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261872"/>
            <a:ext cx="64008" cy="1234440"/>
          </a:xfrm>
          <a:prstGeom prst="rect">
            <a:avLst/>
          </a:prstGeom>
          <a:solidFill>
            <a:srgbClr val="E8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26463"/>
            <a:ext cx="295351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8961F"/>
                </a:solidFill>
                <a:latin typeface="Microsoft YaHei"/>
              </a:rPr>
              <a:t>13.7 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29967"/>
            <a:ext cx="2953512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D 随机变化周期，避免与时钟同步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261872"/>
            <a:ext cx="3730752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90688" y="1261872"/>
            <a:ext cx="64008" cy="123444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1426463"/>
            <a:ext cx="3346704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D4141"/>
                </a:solidFill>
                <a:latin typeface="Microsoft YaHei"/>
              </a:rPr>
              <a:t>100 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029967"/>
            <a:ext cx="3346704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复位结束后释放 rst_n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761488"/>
            <a:ext cx="6537960" cy="3154680"/>
          </a:xfrm>
          <a:prstGeom prst="roundRect">
            <a:avLst/>
          </a:prstGeom>
          <a:solidFill>
            <a:srgbClr val="111D2D"/>
          </a:solidFill>
          <a:ln w="10160">
            <a:solidFill>
              <a:srgbClr val="26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907792"/>
            <a:ext cx="6099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6F0FF"/>
                </a:solidFill>
                <a:latin typeface="Microsoft YaHei"/>
              </a:rPr>
              <a:t>Testbench 关键代码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00400"/>
            <a:ext cx="6135624" cy="2587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6F0FF"/>
                </a:solidFill>
                <a:latin typeface="Consolas"/>
              </a:rPr>
              <a:t>initial begin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sys_clk &lt;=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rst_n   &lt;=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D       &lt;= 0;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8961F"/>
                </a:solidFill>
                <a:latin typeface="Consolas"/>
              </a:rPr>
              <a:t>  #100 rst_n &lt;=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6F0FF"/>
                </a:solidFill>
                <a:latin typeface="Consolas"/>
              </a:rPr>
              <a:t>end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199D99"/>
                </a:solidFill>
                <a:latin typeface="Consolas"/>
              </a:rPr>
              <a:t>always #10 sys_clk &lt;= ~sys_clk;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6915B"/>
                </a:solidFill>
                <a:latin typeface="Consolas"/>
              </a:rPr>
              <a:t>always #13.7 D &lt;= {$random} % 2;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2761488"/>
            <a:ext cx="400507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验证覆盖点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3200400"/>
            <a:ext cx="4005072" cy="438912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3291840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YaHei"/>
              </a:rPr>
              <a:t>复位阶段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9952" y="3291840"/>
            <a:ext cx="257860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12A36"/>
                </a:solidFill>
                <a:latin typeface="Microsoft YaHei"/>
              </a:rPr>
              <a:t>rst_n=0，Q 必须为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16368" y="3694176"/>
            <a:ext cx="400507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3785615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99D99"/>
                </a:solidFill>
                <a:latin typeface="Microsoft YaHei"/>
              </a:rPr>
              <a:t>释放复位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3785615"/>
            <a:ext cx="257860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12A36"/>
                </a:solidFill>
                <a:latin typeface="Microsoft YaHei"/>
              </a:rPr>
              <a:t>100 ns 后，等待下一个上升沿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16368" y="4187952"/>
            <a:ext cx="4005072" cy="438912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4279392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YaHei"/>
              </a:rPr>
              <a:t>随机采样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4279392"/>
            <a:ext cx="257860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12A36"/>
                </a:solidFill>
                <a:latin typeface="Microsoft YaHei"/>
              </a:rPr>
              <a:t>D=0/1 均可能出现在边沿前后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8" y="4681728"/>
            <a:ext cx="4005072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4773168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99D99"/>
                </a:solidFill>
                <a:latin typeface="Microsoft YaHei"/>
              </a:rPr>
              <a:t>互补输出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4773168"/>
            <a:ext cx="257860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12A36"/>
                </a:solidFill>
                <a:latin typeface="Microsoft YaHei"/>
              </a:rPr>
              <a:t>每个时刻检查 Q_NOT = ~Q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16368" y="5175504"/>
            <a:ext cx="4005072" cy="438912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9248" y="5266944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6FEB"/>
                </a:solidFill>
                <a:latin typeface="Microsoft YaHei"/>
              </a:rPr>
              <a:t>编译质量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5266944"/>
            <a:ext cx="257860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12A36"/>
                </a:solidFill>
                <a:latin typeface="Microsoft YaHei"/>
              </a:rPr>
              <a:t>用户 RTL 与 TB 均为 0 error / 0 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关键时序行为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TIMING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Q 只响应上升沿，Q_NOT 与 Q 保持反相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61872"/>
            <a:ext cx="10945368" cy="4370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8503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12A36"/>
                </a:solidFill>
                <a:latin typeface="Consolas"/>
              </a:rPr>
              <a:t>sys_clk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92808" y="1984248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70048" y="1984248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7004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70048" y="1737360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47288" y="1737360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4728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47288" y="1984248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24528" y="1984248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22452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24528" y="1737360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01768" y="1737360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0176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01768" y="1984248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79008" y="1984248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77900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79008" y="1737360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56248" y="1737360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5624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56248" y="1984248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33488" y="1984248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3348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33488" y="1737360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10728" y="1737360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11072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10728" y="1984248"/>
            <a:ext cx="777239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87967" y="1984248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887967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87967" y="1737360"/>
            <a:ext cx="777241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65208" y="1737360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6520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65208" y="1984248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442448" y="1984248"/>
            <a:ext cx="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442448" y="1737360"/>
            <a:ext cx="0" cy="246888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42448" y="1737360"/>
            <a:ext cx="777240" cy="0"/>
          </a:xfrm>
          <a:prstGeom prst="line">
            <a:avLst/>
          </a:prstGeom>
          <a:ln w="2667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892808" y="1984248"/>
            <a:ext cx="9326880" cy="0"/>
          </a:xfrm>
          <a:prstGeom prst="line">
            <a:avLst/>
          </a:prstGeom>
          <a:ln w="10160">
            <a:solidFill>
              <a:srgbClr val="E1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32688" y="2203703"/>
            <a:ext cx="8503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D4141"/>
                </a:solidFill>
                <a:latin typeface="Consolas"/>
              </a:rPr>
              <a:t>rst_n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92808" y="2487168"/>
            <a:ext cx="1554480" cy="0"/>
          </a:xfrm>
          <a:prstGeom prst="line">
            <a:avLst/>
          </a:prstGeom>
          <a:ln w="26670">
            <a:solidFill>
              <a:srgbClr val="CD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447288" y="2487168"/>
            <a:ext cx="0" cy="0"/>
          </a:xfrm>
          <a:prstGeom prst="line">
            <a:avLst/>
          </a:prstGeom>
          <a:ln w="26670">
            <a:solidFill>
              <a:srgbClr val="CD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447288" y="2240279"/>
            <a:ext cx="0" cy="246889"/>
          </a:xfrm>
          <a:prstGeom prst="line">
            <a:avLst/>
          </a:prstGeom>
          <a:ln w="26670">
            <a:solidFill>
              <a:srgbClr val="CD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47288" y="2240279"/>
            <a:ext cx="7772400" cy="0"/>
          </a:xfrm>
          <a:prstGeom prst="line">
            <a:avLst/>
          </a:prstGeom>
          <a:ln w="26670">
            <a:solidFill>
              <a:srgbClr val="CD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892808" y="2487168"/>
            <a:ext cx="9326880" cy="0"/>
          </a:xfrm>
          <a:prstGeom prst="line">
            <a:avLst/>
          </a:prstGeom>
          <a:ln w="10160">
            <a:solidFill>
              <a:srgbClr val="E1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32688" y="2706623"/>
            <a:ext cx="8503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961F"/>
                </a:solidFill>
                <a:latin typeface="Consolas"/>
              </a:rPr>
              <a:t>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892808" y="2990087"/>
            <a:ext cx="1865376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758184" y="2990087"/>
            <a:ext cx="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758184" y="2743199"/>
            <a:ext cx="0" cy="246888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58184" y="2743199"/>
            <a:ext cx="932688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90872" y="2743199"/>
            <a:ext cx="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690872" y="2743199"/>
            <a:ext cx="0" cy="246888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690872" y="2990087"/>
            <a:ext cx="1321308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012180" y="2990087"/>
            <a:ext cx="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12180" y="2743199"/>
            <a:ext cx="0" cy="246888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012180" y="2743199"/>
            <a:ext cx="77724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789420" y="2743199"/>
            <a:ext cx="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789420" y="2743199"/>
            <a:ext cx="0" cy="246888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789420" y="2990087"/>
            <a:ext cx="1088136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877556" y="2990087"/>
            <a:ext cx="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877556" y="2743199"/>
            <a:ext cx="0" cy="246888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877556" y="2743199"/>
            <a:ext cx="1321308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198864" y="2743199"/>
            <a:ext cx="0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98864" y="2743199"/>
            <a:ext cx="0" cy="246888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198864" y="2990087"/>
            <a:ext cx="2020824" cy="0"/>
          </a:xfrm>
          <a:prstGeom prst="line">
            <a:avLst/>
          </a:prstGeom>
          <a:ln w="26670">
            <a:solidFill>
              <a:srgbClr val="E89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892808" y="2990087"/>
            <a:ext cx="9326880" cy="0"/>
          </a:xfrm>
          <a:prstGeom prst="line">
            <a:avLst/>
          </a:prstGeom>
          <a:ln w="10160">
            <a:solidFill>
              <a:srgbClr val="E1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32688" y="3209544"/>
            <a:ext cx="8503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6915B"/>
                </a:solidFill>
                <a:latin typeface="Consolas"/>
              </a:rPr>
              <a:t>Q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892808" y="3493008"/>
            <a:ext cx="233172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224528" y="3493008"/>
            <a:ext cx="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224528" y="3246120"/>
            <a:ext cx="0" cy="246888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224528" y="3246120"/>
            <a:ext cx="155448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779008" y="3246120"/>
            <a:ext cx="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779008" y="3246120"/>
            <a:ext cx="0" cy="246888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79008" y="3493008"/>
            <a:ext cx="155448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333488" y="3493008"/>
            <a:ext cx="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333488" y="3246120"/>
            <a:ext cx="0" cy="246888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333488" y="3246120"/>
            <a:ext cx="233172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665208" y="3246120"/>
            <a:ext cx="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665208" y="3246120"/>
            <a:ext cx="0" cy="246888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665208" y="3493008"/>
            <a:ext cx="1554480" cy="0"/>
          </a:xfrm>
          <a:prstGeom prst="line">
            <a:avLst/>
          </a:prstGeom>
          <a:ln w="26670">
            <a:solidFill>
              <a:srgbClr val="26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892808" y="3493008"/>
            <a:ext cx="9326880" cy="0"/>
          </a:xfrm>
          <a:prstGeom prst="line">
            <a:avLst/>
          </a:prstGeom>
          <a:ln w="10160">
            <a:solidFill>
              <a:srgbClr val="E1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32688" y="3712464"/>
            <a:ext cx="8503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9D99"/>
                </a:solidFill>
                <a:latin typeface="Consolas"/>
              </a:rPr>
              <a:t>Q_NOT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892808" y="3749040"/>
            <a:ext cx="233172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224528" y="3749040"/>
            <a:ext cx="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224528" y="3749040"/>
            <a:ext cx="0" cy="246888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224528" y="3995928"/>
            <a:ext cx="155448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779008" y="3995928"/>
            <a:ext cx="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779008" y="3749040"/>
            <a:ext cx="0" cy="246888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779008" y="3749040"/>
            <a:ext cx="155448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333488" y="3749040"/>
            <a:ext cx="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333488" y="3749040"/>
            <a:ext cx="0" cy="246888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333488" y="3995928"/>
            <a:ext cx="233172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65208" y="3995928"/>
            <a:ext cx="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665208" y="3749040"/>
            <a:ext cx="0" cy="246888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65208" y="3749040"/>
            <a:ext cx="1554480" cy="0"/>
          </a:xfrm>
          <a:prstGeom prst="line">
            <a:avLst/>
          </a:prstGeom>
          <a:ln w="26670">
            <a:solidFill>
              <a:srgbClr val="199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892808" y="3995928"/>
            <a:ext cx="9326880" cy="0"/>
          </a:xfrm>
          <a:prstGeom prst="line">
            <a:avLst/>
          </a:prstGeom>
          <a:ln w="10160">
            <a:solidFill>
              <a:srgbClr val="E1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224528" y="1673351"/>
            <a:ext cx="0" cy="2478025"/>
          </a:xfrm>
          <a:prstGeom prst="line">
            <a:avLst/>
          </a:prstGeom>
          <a:ln w="10160">
            <a:solidFill>
              <a:srgbClr val="A1B0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5779008" y="1673351"/>
            <a:ext cx="0" cy="2478025"/>
          </a:xfrm>
          <a:prstGeom prst="line">
            <a:avLst/>
          </a:prstGeom>
          <a:ln w="10160">
            <a:solidFill>
              <a:srgbClr val="A1B0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33488" y="1673351"/>
            <a:ext cx="0" cy="2478025"/>
          </a:xfrm>
          <a:prstGeom prst="line">
            <a:avLst/>
          </a:prstGeom>
          <a:ln w="10160">
            <a:solidFill>
              <a:srgbClr val="A1B0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665208" y="1673351"/>
            <a:ext cx="0" cy="2478025"/>
          </a:xfrm>
          <a:prstGeom prst="line">
            <a:avLst/>
          </a:prstGeom>
          <a:ln w="10160">
            <a:solidFill>
              <a:srgbClr val="A1B0C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892808" y="4224528"/>
            <a:ext cx="5486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0 ns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54680" y="4224528"/>
            <a:ext cx="6400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100 ns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88167" y="4224528"/>
            <a:ext cx="731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仿真时间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2688" y="4754880"/>
            <a:ext cx="102870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6777"/>
                </a:solidFill>
                <a:latin typeface="Microsoft YaHei"/>
              </a:rPr>
              <a:t>复位在 100 ns 释放后，Q 不立即变化；直到下一个 sys_clk 上升沿才采样 D。虚线标记了发生采样更新的时钟边沿。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注意：图中 D 为随机测试信号，Q 的跳变均与上升沿对齐，Q_NOT 与之互补。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ModelSim 仿真结果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SIMULATION RESULT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RTL 级功能仿真完成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98448"/>
            <a:ext cx="3419856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98448"/>
            <a:ext cx="64008" cy="141732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463039"/>
            <a:ext cx="3035808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26915B"/>
                </a:solidFill>
                <a:latin typeface="Microsoft Ya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66543"/>
            <a:ext cx="3035808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用户 RTL 编译错误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1298448"/>
            <a:ext cx="3419856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42816" y="1298448"/>
            <a:ext cx="64008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463039"/>
            <a:ext cx="3035808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1F6FEB"/>
                </a:solidFill>
                <a:latin typeface="Microsoft YaHe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066543"/>
            <a:ext cx="3035808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用户 RTL 编译警告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298448"/>
            <a:ext cx="36576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298448"/>
            <a:ext cx="64008" cy="1417320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463039"/>
            <a:ext cx="327355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99D99"/>
                </a:solidFill>
                <a:latin typeface="Microsoft YaHei"/>
              </a:rPr>
              <a:t>0 /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66543"/>
            <a:ext cx="3273552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D_FF_tb 编译错误 / 警告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090672"/>
            <a:ext cx="55321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33C"/>
                </a:solidFill>
                <a:latin typeface="Microsoft YaHei"/>
              </a:rPr>
              <a:t>验证结论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538728"/>
            <a:ext cx="5532120" cy="23225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785615"/>
            <a:ext cx="495604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14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450" b="0">
                <a:solidFill>
                  <a:srgbClr val="212A36"/>
                </a:solidFill>
                <a:latin typeface="Microsoft YaHei"/>
              </a:rPr>
              <a:t>复位保持期间 Q=0，异步复位行为正确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14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450" b="0">
                <a:solidFill>
                  <a:srgbClr val="212A36"/>
                </a:solidFill>
                <a:latin typeface="Microsoft YaHei"/>
              </a:rPr>
              <a:t>复位释放后，Q 在时钟上升沿跟随 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14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450" b="0">
                <a:solidFill>
                  <a:srgbClr val="212A36"/>
                </a:solidFill>
                <a:latin typeface="Microsoft YaHei"/>
              </a:rPr>
              <a:t>Q 在非上升沿期间保持，不随 D 透明变化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14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450" b="0">
                <a:solidFill>
                  <a:srgbClr val="212A36"/>
                </a:solidFill>
                <a:latin typeface="Microsoft YaHei"/>
              </a:rPr>
              <a:t>Q_NOT 始终为 Q 的逻辑反相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14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450" b="0">
                <a:solidFill>
                  <a:srgbClr val="212A36"/>
                </a:solidFill>
                <a:latin typeface="Microsoft YaHei"/>
              </a:rPr>
              <a:t>ModelSim 完成 run -all，无用户代码错误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90672"/>
            <a:ext cx="5093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33C"/>
                </a:solidFill>
                <a:latin typeface="Microsoft YaHei"/>
              </a:rPr>
              <a:t>仿真命令与结果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3538728"/>
            <a:ext cx="5093208" cy="2322576"/>
          </a:xfrm>
          <a:prstGeom prst="roundRect">
            <a:avLst/>
          </a:prstGeom>
          <a:solidFill>
            <a:srgbClr val="111D2D"/>
          </a:solidFill>
          <a:ln w="10160">
            <a:solidFill>
              <a:srgbClr val="26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685032"/>
            <a:ext cx="46542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6F0FF"/>
                </a:solidFill>
                <a:latin typeface="Microsoft YaHei"/>
              </a:rPr>
              <a:t>ModelSim Transcript 摘要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77639"/>
            <a:ext cx="4690872" cy="1755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vlog D_FF.v D_FF_tb.v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6915B"/>
                </a:solidFill>
                <a:latin typeface="Consolas"/>
              </a:rPr>
              <a:t># Errors: 0, Warnings: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199D99"/>
                </a:solidFill>
                <a:latin typeface="Consolas"/>
              </a:rPr>
              <a:t>vsim D_FF_tb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199D99"/>
                </a:solidFill>
                <a:latin typeface="Consolas"/>
              </a:rPr>
              <a:t>run -all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26915B"/>
                </a:solidFill>
                <a:latin typeface="Consolas"/>
              </a:rPr>
              <a:t># 仿真完成，无用户文件报错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说明：Altera 仿真库自身存在 685 条换行格式警告，不影响 D_FF 与 D_FF_tb 的编译和仿真。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Quartus 实现流程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IMPLEMENTATION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从可综合 RTL 到 FPGA 配置文件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00200"/>
            <a:ext cx="1911095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73936"/>
            <a:ext cx="548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6FEB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1572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RTL 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61488"/>
            <a:ext cx="157276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D_FF.v
Verilog-2001</a:t>
            </a:r>
          </a:p>
        </p:txBody>
      </p:sp>
      <p:sp>
        <p:nvSpPr>
          <p:cNvPr id="13" name="Chevron 12"/>
          <p:cNvSpPr/>
          <p:nvPr/>
        </p:nvSpPr>
        <p:spPr>
          <a:xfrm>
            <a:off x="2560320" y="2404872"/>
            <a:ext cx="347472" cy="493776"/>
          </a:xfrm>
          <a:prstGeom prst="chevron">
            <a:avLst/>
          </a:prstGeom>
          <a:solidFill>
            <a:srgbClr val="C9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07792" y="1600200"/>
            <a:ext cx="1911095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1773936"/>
            <a:ext cx="548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99D99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212848"/>
            <a:ext cx="1572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分析与综合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761488"/>
            <a:ext cx="157276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映射到逻辑单元
1 个寄存器</a:t>
            </a:r>
          </a:p>
        </p:txBody>
      </p:sp>
      <p:sp>
        <p:nvSpPr>
          <p:cNvPr id="18" name="Chevron 17"/>
          <p:cNvSpPr/>
          <p:nvPr/>
        </p:nvSpPr>
        <p:spPr>
          <a:xfrm>
            <a:off x="4846320" y="2404872"/>
            <a:ext cx="347472" cy="493776"/>
          </a:xfrm>
          <a:prstGeom prst="chevron">
            <a:avLst/>
          </a:prstGeom>
          <a:solidFill>
            <a:srgbClr val="C9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93792" y="1600200"/>
            <a:ext cx="1911095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3" y="1773936"/>
            <a:ext cx="548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6915B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2212848"/>
            <a:ext cx="1572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布局布线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3" y="2761488"/>
            <a:ext cx="157276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Fitter 成功
资源占用 &lt;1%</a:t>
            </a:r>
          </a:p>
        </p:txBody>
      </p:sp>
      <p:sp>
        <p:nvSpPr>
          <p:cNvPr id="23" name="Chevron 22"/>
          <p:cNvSpPr/>
          <p:nvPr/>
        </p:nvSpPr>
        <p:spPr>
          <a:xfrm>
            <a:off x="7132320" y="2404872"/>
            <a:ext cx="347472" cy="493776"/>
          </a:xfrm>
          <a:prstGeom prst="chevron">
            <a:avLst/>
          </a:prstGeom>
          <a:solidFill>
            <a:srgbClr val="C9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79792" y="1600200"/>
            <a:ext cx="1911095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1773936"/>
            <a:ext cx="548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961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212848"/>
            <a:ext cx="1572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装配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2761488"/>
            <a:ext cx="157276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生成 SOF
可下载配置</a:t>
            </a:r>
          </a:p>
        </p:txBody>
      </p:sp>
      <p:sp>
        <p:nvSpPr>
          <p:cNvPr id="28" name="Chevron 27"/>
          <p:cNvSpPr/>
          <p:nvPr/>
        </p:nvSpPr>
        <p:spPr>
          <a:xfrm>
            <a:off x="9418320" y="2404872"/>
            <a:ext cx="347472" cy="493776"/>
          </a:xfrm>
          <a:prstGeom prst="chevron">
            <a:avLst/>
          </a:prstGeom>
          <a:solidFill>
            <a:srgbClr val="C9D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65792" y="1600200"/>
            <a:ext cx="1911095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1773936"/>
            <a:ext cx="548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D4141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2212848"/>
            <a:ext cx="1572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时序分析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2761488"/>
            <a:ext cx="1572768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TimeQuest
发现约束不足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4370832"/>
            <a:ext cx="10945368" cy="1353312"/>
          </a:xfrm>
          <a:prstGeom prst="round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617720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EC6EE"/>
                </a:solidFill>
                <a:latin typeface="Microsoft YaHei"/>
              </a:rPr>
              <a:t>编译状态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93392" y="4553712"/>
            <a:ext cx="4069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Analysis &amp; Synthesis  Successful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553712"/>
            <a:ext cx="2148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Fitter  Successful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5672" y="4553712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SOF  Generated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5020056"/>
            <a:ext cx="102870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BDAE9"/>
                </a:solidFill>
                <a:latin typeface="Microsoft YaHei"/>
              </a:rPr>
              <a:t>实现链路完整；但项目未绑定具体引脚，也没有用户时钟 SDC 约束，因此尚不能直接视为板级实测完成。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资源占用与器件匹配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RESOURCE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单寄存器设计对目标器件占用极低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98448"/>
            <a:ext cx="2560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98448"/>
            <a:ext cx="64008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463039"/>
            <a:ext cx="217627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1F6FEB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66543"/>
            <a:ext cx="2176272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逻辑单元 / 6,272
&lt; 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298448"/>
            <a:ext cx="2560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298448"/>
            <a:ext cx="64008" cy="1417320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63039"/>
            <a:ext cx="217627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26915B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066543"/>
            <a:ext cx="2176272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专用逻辑寄存器
&lt; 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1298448"/>
            <a:ext cx="2560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298448"/>
            <a:ext cx="64008" cy="1417320"/>
          </a:xfrm>
          <a:prstGeom prst="rect">
            <a:avLst/>
          </a:prstGeom>
          <a:solidFill>
            <a:srgbClr val="E8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463039"/>
            <a:ext cx="217627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E8961F"/>
                </a:solidFill>
                <a:latin typeface="Microsoft Ya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066543"/>
            <a:ext cx="2176272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总引脚 / 92
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298448"/>
            <a:ext cx="2697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1298448"/>
            <a:ext cx="64008" cy="1417320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463039"/>
            <a:ext cx="231343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199D99"/>
                </a:solidFill>
                <a:latin typeface="Microsoft YaHe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066543"/>
            <a:ext cx="2313432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存储位 / DSP / PLL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154680"/>
            <a:ext cx="347472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器件信息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611880"/>
            <a:ext cx="1783911" cy="384048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85032"/>
            <a:ext cx="1564455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项目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05703" y="3611880"/>
            <a:ext cx="2952680" cy="384048"/>
          </a:xfrm>
          <a:prstGeom prst="rect">
            <a:avLst/>
          </a:prstGeom>
          <a:solidFill>
            <a:srgbClr val="0F233C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5431" y="3685032"/>
            <a:ext cx="2733224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结果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995928"/>
            <a:ext cx="1783911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69080"/>
            <a:ext cx="1564455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器件系列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05703" y="3995928"/>
            <a:ext cx="2952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5431" y="4069080"/>
            <a:ext cx="2733224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Cyclone IV 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379976"/>
            <a:ext cx="1783911" cy="384048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53128"/>
            <a:ext cx="1564455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目标器件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05703" y="4379976"/>
            <a:ext cx="2952680" cy="384048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5431" y="4453128"/>
            <a:ext cx="2733224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EP4CE6E22C6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764024"/>
            <a:ext cx="1783911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37176"/>
            <a:ext cx="1564455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顶层实体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05703" y="4764024"/>
            <a:ext cx="2952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5431" y="4837176"/>
            <a:ext cx="2733224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D_FF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5148072"/>
            <a:ext cx="1783911" cy="384048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21224"/>
            <a:ext cx="1564455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综合版本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05703" y="5148072"/>
            <a:ext cx="2952680" cy="384048"/>
          </a:xfrm>
          <a:prstGeom prst="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5431" y="5221224"/>
            <a:ext cx="2733224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Quartus II 13.0.1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5532120"/>
            <a:ext cx="1783911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605272"/>
            <a:ext cx="1564455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配置文件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05703" y="5532120"/>
            <a:ext cx="2952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5431" y="5605272"/>
            <a:ext cx="2733224" cy="2560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212A36"/>
                </a:solidFill>
                <a:latin typeface="Microsoft YaHei"/>
              </a:rPr>
              <a:t>D_FF.sof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3872" y="3154680"/>
            <a:ext cx="5733288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实现解释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33872" y="3611880"/>
            <a:ext cx="5733288" cy="2231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44768" y="3877056"/>
            <a:ext cx="510235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79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212A36"/>
                </a:solidFill>
                <a:latin typeface="Microsoft YaHei"/>
              </a:rPr>
              <a:t>Q 被综合为 1 个 D 触发器资源，符合 RTL 意图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79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212A36"/>
                </a:solidFill>
                <a:latin typeface="Microsoft YaHei"/>
              </a:rPr>
              <a:t>Q_NOT 未额外占用寄存器或组合逻辑，由输出反相路径实现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79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212A36"/>
                </a:solidFill>
                <a:latin typeface="Microsoft YaHei"/>
              </a:rPr>
              <a:t>5 个引脚对应 sys_clk、rst_n、D、Q、Q_NOT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79" b="1">
                <a:solidFill>
                  <a:srgbClr val="199D99"/>
                </a:solidFill>
                <a:latin typeface="Microsoft YaHei"/>
              </a:rPr>
              <a:t>●  </a:t>
            </a:r>
            <a:r>
              <a:rPr sz="1400" b="0">
                <a:solidFill>
                  <a:srgbClr val="212A36"/>
                </a:solidFill>
                <a:latin typeface="Microsoft YaHei"/>
              </a:rPr>
              <a:t>当前引脚位置由 Quartus 自动分配，尚未做板卡绑定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时序报告说明与改进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TIMING CONSTRAINT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当前负 Slack 来自缺失 SDC，而不是 RTL 功能错误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80160"/>
            <a:ext cx="49834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TimeQuest 读取结果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29968"/>
            <a:ext cx="1920240" cy="1152144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029968"/>
            <a:ext cx="64008" cy="1152144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194560"/>
            <a:ext cx="153619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D4141"/>
                </a:solidFill>
                <a:latin typeface="Microsoft YaHei"/>
              </a:rPr>
              <a:t>1000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98064"/>
            <a:ext cx="1536192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自动推导的约束频率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2029968"/>
            <a:ext cx="1920240" cy="1152144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35808" y="2029968"/>
            <a:ext cx="64008" cy="1152144"/>
          </a:xfrm>
          <a:prstGeom prst="rect">
            <a:avLst/>
          </a:prstGeom>
          <a:solidFill>
            <a:srgbClr val="E8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2194560"/>
            <a:ext cx="1536192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8961F"/>
                </a:solidFill>
                <a:latin typeface="Microsoft YaHei"/>
              </a:rPr>
              <a:t>-3.000 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798064"/>
            <a:ext cx="1536192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777"/>
                </a:solidFill>
                <a:latin typeface="Microsoft YaHei"/>
              </a:rPr>
              <a:t>最小脉宽 Slack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02152"/>
            <a:ext cx="4343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报告现象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58768"/>
            <a:ext cx="431596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10" b="1">
                <a:solidFill>
                  <a:srgbClr val="E8961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212A36"/>
                </a:solidFill>
                <a:latin typeface="Microsoft YaHei"/>
              </a:rPr>
              <a:t>工程没有用户 SDC，Quartus 自动使用 1 ns 周期约束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10" b="1">
                <a:solidFill>
                  <a:srgbClr val="E8961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212A36"/>
                </a:solidFill>
                <a:latin typeface="Microsoft YaHei"/>
              </a:rPr>
              <a:t>Setup / Hold 路径报告为 No paths to report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10" b="1">
                <a:solidFill>
                  <a:srgbClr val="E8961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212A36"/>
                </a:solidFill>
                <a:latin typeface="Microsoft YaHei"/>
              </a:rPr>
              <a:t>Min Pulse Width 在 1 GHz 约束下出现负 Slack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910" b="1">
                <a:solidFill>
                  <a:srgbClr val="E8961F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212A36"/>
                </a:solidFill>
                <a:latin typeface="Microsoft YaHei"/>
              </a:rPr>
              <a:t>负 Slack 并不意味着 20 ns 实验时钟下必然失败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8" y="1280160"/>
            <a:ext cx="560527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1554480"/>
            <a:ext cx="501091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233C"/>
                </a:solidFill>
                <a:latin typeface="Microsoft YaHei"/>
              </a:rPr>
              <a:t>建议补齐约束后复测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084831"/>
            <a:ext cx="5010912" cy="1664208"/>
          </a:xfrm>
          <a:prstGeom prst="roundRect">
            <a:avLst/>
          </a:prstGeom>
          <a:solidFill>
            <a:srgbClr val="111D2D"/>
          </a:solidFill>
          <a:ln w="10160">
            <a:solidFill>
              <a:srgbClr val="26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231136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6F0FF"/>
                </a:solidFill>
                <a:latin typeface="Microsoft YaHei"/>
              </a:rPr>
              <a:t>50 MHz 实验时钟约束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23744"/>
            <a:ext cx="4608576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E6F0FF"/>
                </a:solidFill>
                <a:latin typeface="Consolas"/>
              </a:rPr>
              <a:t># D_FF.sdc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create_clock -period 20.000 -name sys_clk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            [get_ports {sys_clk}]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0">
                <a:solidFill>
                  <a:srgbClr val="E3EBF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20" b="1">
                <a:solidFill>
                  <a:srgbClr val="199D99"/>
                </a:solidFill>
                <a:latin typeface="Consolas"/>
              </a:rPr>
              <a:t>derive_clock_uncertainty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968496"/>
            <a:ext cx="914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33C"/>
                </a:solidFill>
                <a:latin typeface="Microsoft YaHei"/>
              </a:rPr>
              <a:t>下一步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4325112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875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250" b="0">
                <a:solidFill>
                  <a:srgbClr val="212A36"/>
                </a:solidFill>
                <a:latin typeface="Microsoft YaHei"/>
              </a:rPr>
              <a:t>在 qsf 中声明 SDC_FILE 并重新运行时序分析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875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250" b="0">
                <a:solidFill>
                  <a:srgbClr val="212A36"/>
                </a:solidFill>
                <a:latin typeface="Microsoft YaHei"/>
              </a:rPr>
              <a:t>根据开发板原理图绑定引脚，再做在线下载测试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875" b="1">
                <a:solidFill>
                  <a:srgbClr val="1F6FEB"/>
                </a:solidFill>
                <a:latin typeface="Microsoft YaHei"/>
              </a:rPr>
              <a:t>●  </a:t>
            </a:r>
            <a:r>
              <a:rPr sz="1250" b="0">
                <a:solidFill>
                  <a:srgbClr val="212A36"/>
                </a:solidFill>
                <a:latin typeface="Microsoft YaHei"/>
              </a:rPr>
              <a:t>如用于更高频率，应补充输入/输出延时约束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答辩口径：功能仿真和软件实现已完成；当前时序负 Slack 属于约束缺失导致的报告区间问题，已给出修复方案。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总结与后续工作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SUMMARY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设计闭环已形成，板级验证与约束仍需完善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80160"/>
            <a:ext cx="674827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61447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6915B"/>
                </a:solidFill>
                <a:latin typeface="Microsoft YaHei"/>
              </a:rPr>
              <a:t>已经完成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6144768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212A36"/>
                </a:solidFill>
                <a:latin typeface="Microsoft YaHei"/>
              </a:rPr>
              <a:t>完成带异步复位和上升沿触发的可综合 Verilog 设计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212A36"/>
                </a:solidFill>
                <a:latin typeface="Microsoft YaHei"/>
              </a:rPr>
              <a:t>完成时钟、随机 D 和复位序列测试平台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212A36"/>
                </a:solidFill>
                <a:latin typeface="Microsoft YaHei"/>
              </a:rPr>
              <a:t>ModelSim 功能仿真通过用户代码 0 error / 0 warning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212A36"/>
                </a:solidFill>
                <a:latin typeface="Microsoft YaHei"/>
              </a:rPr>
              <a:t>Quartus 综合、Fitter 和装配成功，生成 D_FF.sof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26915B"/>
                </a:solidFill>
                <a:latin typeface="Microsoft YaHei"/>
              </a:rPr>
              <a:t>●  </a:t>
            </a:r>
            <a:r>
              <a:rPr sz="1500" b="0">
                <a:solidFill>
                  <a:srgbClr val="212A36"/>
                </a:solidFill>
                <a:latin typeface="Microsoft YaHei"/>
              </a:rPr>
              <a:t>目标器件占用仅 1 个逻辑单元、1 个寄存器和 5 个引脚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34840"/>
            <a:ext cx="6144768" cy="960120"/>
          </a:xfrm>
          <a:prstGeom prst="roundRect">
            <a:avLst/>
          </a:prstGeom>
          <a:solidFill>
            <a:srgbClr val="EEF3F9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90288"/>
            <a:ext cx="9601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6777"/>
                </a:solidFill>
                <a:latin typeface="Microsoft YaHei"/>
              </a:rPr>
              <a:t>核心结论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4572000"/>
            <a:ext cx="502920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33C"/>
                </a:solidFill>
                <a:latin typeface="Microsoft YaHei"/>
              </a:rPr>
              <a:t>RTL 功能与预期一致，设计可综合；当前缺口是 SDC 约束和板级测试。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280160"/>
            <a:ext cx="3904487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33C"/>
                </a:solidFill>
                <a:latin typeface="Microsoft YaHei"/>
              </a:rPr>
              <a:t>后续优化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755648"/>
            <a:ext cx="3904487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62672" y="1755648"/>
            <a:ext cx="73152" cy="8961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1883664"/>
            <a:ext cx="685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6FEB"/>
                </a:solidFill>
                <a:latin typeface="Microsoft YaHei"/>
              </a:rPr>
              <a:t>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1883664"/>
            <a:ext cx="276148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添加 50 MHz 时钟 SDC，复跑 TimeQuest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2761488"/>
            <a:ext cx="3904487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62672" y="2761488"/>
            <a:ext cx="73152" cy="896112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2889504"/>
            <a:ext cx="685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9D99"/>
                </a:solidFill>
                <a:latin typeface="Microsoft YaHei"/>
              </a:rPr>
              <a:t>板级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889504"/>
            <a:ext cx="276148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按开发板原理图完成引脚分配与下载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2672" y="3767328"/>
            <a:ext cx="3904487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62672" y="3767328"/>
            <a:ext cx="73152" cy="896112"/>
          </a:xfrm>
          <a:prstGeom prst="rect">
            <a:avLst/>
          </a:prstGeom>
          <a:solidFill>
            <a:srgbClr val="26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3895344"/>
            <a:ext cx="685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6915B"/>
                </a:solidFill>
                <a:latin typeface="Microsoft YaHei"/>
              </a:rPr>
              <a:t>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895344"/>
            <a:ext cx="276148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补充定向激励、断言和覆盖率检查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2672" y="4773168"/>
            <a:ext cx="3904487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62672" y="4773168"/>
            <a:ext cx="73152" cy="896112"/>
          </a:xfrm>
          <a:prstGeom prst="rect">
            <a:avLst/>
          </a:prstGeom>
          <a:solidFill>
            <a:srgbClr val="E89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18704" y="4901184"/>
            <a:ext cx="685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961F"/>
                </a:solidFill>
                <a:latin typeface="Microsoft YaHei"/>
              </a:rPr>
              <a:t>扩展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901184"/>
            <a:ext cx="276148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777"/>
                </a:solidFill>
                <a:latin typeface="Microsoft YaHei"/>
              </a:rPr>
              <a:t>级联构成移位寄存器或分频器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10881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233C"/>
                </a:solidFill>
                <a:latin typeface="Microsoft YaHei"/>
              </a:rPr>
              <a:t>附录：答辩问答准备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448056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Q&amp;A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960120"/>
            <a:ext cx="10945368" cy="0"/>
          </a:xfrm>
          <a:prstGeom prst="line">
            <a:avLst/>
          </a:prstGeom>
          <a:ln w="10160">
            <a:solidFill>
              <a:srgbClr val="D2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382512"/>
            <a:ext cx="4114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7"/>
                </a:solidFill>
                <a:latin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"/>
            <a:ext cx="8046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F6FEB"/>
                </a:solidFill>
                <a:latin typeface="Microsoft YaHei"/>
              </a:rPr>
              <a:t>常见问题的简明回答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298448"/>
            <a:ext cx="520293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298448"/>
            <a:ext cx="73152" cy="12984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53895"/>
            <a:ext cx="4709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33C"/>
                </a:solidFill>
                <a:latin typeface="Microsoft YaHei"/>
              </a:rPr>
              <a:t>为什么采用异步复位？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65376"/>
            <a:ext cx="4709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B6777"/>
                </a:solidFill>
                <a:latin typeface="Microsoft YaHei"/>
              </a:rPr>
              <a:t>复位不必依赖时钟，系统上电或异常时可立即将 Q 清零。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98448"/>
            <a:ext cx="520293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98448"/>
            <a:ext cx="73152" cy="1298448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453895"/>
            <a:ext cx="4709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33C"/>
                </a:solidFill>
                <a:latin typeface="Microsoft YaHei"/>
              </a:rPr>
              <a:t>为什么使用非阻塞赋值？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65376"/>
            <a:ext cx="4709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B6777"/>
                </a:solidFill>
                <a:latin typeface="Microsoft YaHei"/>
              </a:rPr>
              <a:t>Q 是时序寄存器，&lt;= 更符合“先计算、边沿统一更新”的语义。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852928"/>
            <a:ext cx="520293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2852928"/>
            <a:ext cx="73152" cy="12984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08376"/>
            <a:ext cx="4709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33C"/>
                </a:solidFill>
                <a:latin typeface="Microsoft YaHei"/>
              </a:rPr>
              <a:t>为什么 Q_NOT 用 assign？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4709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B6777"/>
                </a:solidFill>
                <a:latin typeface="Microsoft YaHei"/>
              </a:rPr>
              <a:t>它是 Q 的纯组合函数，无需额外状态寄存，综合结果更直接。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52928"/>
            <a:ext cx="520293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852928"/>
            <a:ext cx="73152" cy="1298448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008376"/>
            <a:ext cx="4709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33C"/>
                </a:solidFill>
                <a:latin typeface="Microsoft YaHei"/>
              </a:rPr>
              <a:t>为什么负 Slack 不影响本次结论？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419856"/>
            <a:ext cx="4709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B6777"/>
                </a:solidFill>
                <a:latin typeface="Microsoft YaHei"/>
              </a:rPr>
              <a:t>负值是 1 GHz 默认约束造成，实验时钟为 20 ns；补 SDC 后应复测。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07408"/>
            <a:ext cx="520293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4407408"/>
            <a:ext cx="73152" cy="129844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62856"/>
            <a:ext cx="4709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33C"/>
                </a:solidFill>
                <a:latin typeface="Microsoft YaHei"/>
              </a:rPr>
              <a:t>随机测试是否充分？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74336"/>
            <a:ext cx="4709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B6777"/>
                </a:solidFill>
                <a:latin typeface="Microsoft YaHei"/>
              </a:rPr>
              <a:t>能覆盖大量边沿前后组合；正式验收还应加入定向序列和自动断言。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407408"/>
            <a:ext cx="5202936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407408"/>
            <a:ext cx="73152" cy="1298448"/>
          </a:xfrm>
          <a:prstGeom prst="rect">
            <a:avLst/>
          </a:prstGeom>
          <a:solidFill>
            <a:srgbClr val="19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4562856"/>
            <a:ext cx="4709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33C"/>
                </a:solidFill>
                <a:latin typeface="Microsoft YaHei"/>
              </a:rPr>
              <a:t>项目还有什么不足？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974336"/>
            <a:ext cx="470916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B6777"/>
                </a:solidFill>
                <a:latin typeface="Microsoft YaHei"/>
              </a:rPr>
              <a:t>尚未绑定引脚和做板级下载，也缺少输入输出延时与覆盖率约束。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382512"/>
            <a:ext cx="97840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6777"/>
                </a:solidFill>
                <a:latin typeface="Microsoft YaHei"/>
              </a:rPr>
              <a:t>谢谢各位老师，请批评指正。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Verilog 的 D 触发器设计与验证</dc:title>
  <dc:subject>FPGA 基础实验答辩</dc:subject>
  <dc:creator>Codex</dc:creator>
  <cp:keywords/>
  <dc:description>基于 Quartus II 13.0.1 与 ModelSim 的 D_FF 实验项目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